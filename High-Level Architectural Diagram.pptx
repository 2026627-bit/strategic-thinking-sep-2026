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0A36-585D-83F7-36DF-39BCD004E56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E"/>
          </a:p>
        </p:txBody>
      </p:sp>
      <p:sp>
        <p:nvSpPr>
          <p:cNvPr id="3" name="Subtitle 2">
            <a:extLst>
              <a:ext uri="{FF2B5EF4-FFF2-40B4-BE49-F238E27FC236}">
                <a16:creationId xmlns:a16="http://schemas.microsoft.com/office/drawing/2014/main" id="{BBB30F2F-51A9-8E7F-00AF-5650D98ACE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E"/>
          </a:p>
        </p:txBody>
      </p:sp>
      <p:sp>
        <p:nvSpPr>
          <p:cNvPr id="4" name="Date Placeholder 3">
            <a:extLst>
              <a:ext uri="{FF2B5EF4-FFF2-40B4-BE49-F238E27FC236}">
                <a16:creationId xmlns:a16="http://schemas.microsoft.com/office/drawing/2014/main" id="{56EB9997-AB4C-D728-3CD0-007EC1EDF845}"/>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4CF78A42-7EB0-103F-18F7-24BDCF489496}"/>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5383D73-0203-FE64-6406-DB0FF831EFAB}"/>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192065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5057F-F4A4-C39C-CBE1-2DA26E915866}"/>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55F1B320-2E09-7ED2-732D-9FBC38F9FF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13A83490-A176-E47A-ED7B-C9BEB527C19F}"/>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E2E5DBF6-B699-4090-BF5A-C0209856EF5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76AE9F1-7DA1-3D5C-C6FF-D573FB43A975}"/>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333414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6CF40-A928-2D18-9535-153ECFFFF0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E"/>
          </a:p>
        </p:txBody>
      </p:sp>
      <p:sp>
        <p:nvSpPr>
          <p:cNvPr id="3" name="Text Placeholder 2">
            <a:extLst>
              <a:ext uri="{FF2B5EF4-FFF2-40B4-BE49-F238E27FC236}">
                <a16:creationId xmlns:a16="http://schemas.microsoft.com/office/drawing/2014/main" id="{FB0F621D-53CA-CE07-A333-EE6E92C77D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9E3606D-0070-5AD2-40EE-1073184BC790}"/>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E41CAC00-B345-292D-ADD3-EC30B93CB33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9A55A39-AF64-6694-FC2C-C5076947832F}"/>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196407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5D82-14BE-A2F9-6940-A76221176CCE}"/>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84353821-7B07-2C9E-857E-370B33FCD7F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Content Placeholder 3">
            <a:extLst>
              <a:ext uri="{FF2B5EF4-FFF2-40B4-BE49-F238E27FC236}">
                <a16:creationId xmlns:a16="http://schemas.microsoft.com/office/drawing/2014/main" id="{852F3FF1-AFCE-0603-AAA8-A3D9793A191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Date Placeholder 4">
            <a:extLst>
              <a:ext uri="{FF2B5EF4-FFF2-40B4-BE49-F238E27FC236}">
                <a16:creationId xmlns:a16="http://schemas.microsoft.com/office/drawing/2014/main" id="{649988B6-3AE5-D98E-3270-6785C2DE228E}"/>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6" name="Footer Placeholder 5">
            <a:extLst>
              <a:ext uri="{FF2B5EF4-FFF2-40B4-BE49-F238E27FC236}">
                <a16:creationId xmlns:a16="http://schemas.microsoft.com/office/drawing/2014/main" id="{0C6D4747-3794-1E93-E4C1-AC3032E9F55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765C12-A2F2-AD6F-54B3-627FEAF73051}"/>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45262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1D36-D5A7-3BFD-A547-FB57E872A3E0}"/>
              </a:ext>
            </a:extLst>
          </p:cNvPr>
          <p:cNvSpPr>
            <a:spLocks noGrp="1"/>
          </p:cNvSpPr>
          <p:nvPr>
            <p:ph type="title"/>
          </p:nvPr>
        </p:nvSpPr>
        <p:spPr>
          <a:xfrm>
            <a:off x="839788" y="365125"/>
            <a:ext cx="10515600" cy="1325563"/>
          </a:xfrm>
        </p:spPr>
        <p:txBody>
          <a:bodyPr/>
          <a:lstStyle/>
          <a:p>
            <a:r>
              <a:rPr lang="en-GB"/>
              <a:t>Click to edit Master title style</a:t>
            </a:r>
            <a:endParaRPr lang="en-IE"/>
          </a:p>
        </p:txBody>
      </p:sp>
      <p:sp>
        <p:nvSpPr>
          <p:cNvPr id="3" name="Text Placeholder 2">
            <a:extLst>
              <a:ext uri="{FF2B5EF4-FFF2-40B4-BE49-F238E27FC236}">
                <a16:creationId xmlns:a16="http://schemas.microsoft.com/office/drawing/2014/main" id="{151F4BE3-21B3-EFC8-E25B-65BBB6B3FB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FB3D0D2-C9F9-A028-26AA-989C67C911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Text Placeholder 4">
            <a:extLst>
              <a:ext uri="{FF2B5EF4-FFF2-40B4-BE49-F238E27FC236}">
                <a16:creationId xmlns:a16="http://schemas.microsoft.com/office/drawing/2014/main" id="{CA06A1E5-9129-B163-62BD-C9686E332C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F55849A-32A5-E7D9-5592-CCB9077C815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7" name="Date Placeholder 6">
            <a:extLst>
              <a:ext uri="{FF2B5EF4-FFF2-40B4-BE49-F238E27FC236}">
                <a16:creationId xmlns:a16="http://schemas.microsoft.com/office/drawing/2014/main" id="{578FD8D6-6C69-3B68-DEFA-47BA2A2ADF6B}"/>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8" name="Footer Placeholder 7">
            <a:extLst>
              <a:ext uri="{FF2B5EF4-FFF2-40B4-BE49-F238E27FC236}">
                <a16:creationId xmlns:a16="http://schemas.microsoft.com/office/drawing/2014/main" id="{C6B96D30-60DA-0CB9-8B58-12642606511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9B05828-3F4F-8876-65EA-BC71FADFB5A5}"/>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2146289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CBDB6-1E5F-E60E-A135-8E428180582A}"/>
              </a:ext>
            </a:extLst>
          </p:cNvPr>
          <p:cNvSpPr>
            <a:spLocks noGrp="1"/>
          </p:cNvSpPr>
          <p:nvPr>
            <p:ph type="title"/>
          </p:nvPr>
        </p:nvSpPr>
        <p:spPr/>
        <p:txBody>
          <a:bodyPr/>
          <a:lstStyle/>
          <a:p>
            <a:r>
              <a:rPr lang="en-GB"/>
              <a:t>Click to edit Master title style</a:t>
            </a:r>
            <a:endParaRPr lang="en-IE"/>
          </a:p>
        </p:txBody>
      </p:sp>
      <p:sp>
        <p:nvSpPr>
          <p:cNvPr id="3" name="Date Placeholder 2">
            <a:extLst>
              <a:ext uri="{FF2B5EF4-FFF2-40B4-BE49-F238E27FC236}">
                <a16:creationId xmlns:a16="http://schemas.microsoft.com/office/drawing/2014/main" id="{F8827916-16D4-51C5-8E93-21FB7F3689DC}"/>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4" name="Footer Placeholder 3">
            <a:extLst>
              <a:ext uri="{FF2B5EF4-FFF2-40B4-BE49-F238E27FC236}">
                <a16:creationId xmlns:a16="http://schemas.microsoft.com/office/drawing/2014/main" id="{30CAF72E-5E65-4109-5664-894A634238F9}"/>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A96BE3FD-DFC6-FA33-E2A2-2A37BDCA9CD6}"/>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197741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BDDFDB-D66B-FF8C-9B6B-5AE7EA92E440}"/>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3" name="Footer Placeholder 2">
            <a:extLst>
              <a:ext uri="{FF2B5EF4-FFF2-40B4-BE49-F238E27FC236}">
                <a16:creationId xmlns:a16="http://schemas.microsoft.com/office/drawing/2014/main" id="{34AEE841-CCEB-484B-0AA9-4ACE0749E35E}"/>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25A4695C-0945-3541-5A19-154C79192D8A}"/>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1526976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7052D-130A-7FCF-F76B-B9D78C6C8C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Content Placeholder 2">
            <a:extLst>
              <a:ext uri="{FF2B5EF4-FFF2-40B4-BE49-F238E27FC236}">
                <a16:creationId xmlns:a16="http://schemas.microsoft.com/office/drawing/2014/main" id="{FCD09073-BF99-4C3E-B3A1-CAA0B3A45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Text Placeholder 3">
            <a:extLst>
              <a:ext uri="{FF2B5EF4-FFF2-40B4-BE49-F238E27FC236}">
                <a16:creationId xmlns:a16="http://schemas.microsoft.com/office/drawing/2014/main" id="{CD5D1AB9-93F4-A60D-18C3-5D9450631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AB40B07-ACC5-C1A9-0BF3-9B27BE5A5DF4}"/>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6" name="Footer Placeholder 5">
            <a:extLst>
              <a:ext uri="{FF2B5EF4-FFF2-40B4-BE49-F238E27FC236}">
                <a16:creationId xmlns:a16="http://schemas.microsoft.com/office/drawing/2014/main" id="{26B80665-261F-9F68-F33F-6F85E829C76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083F03A-07C0-9593-380D-7A43693169B6}"/>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2089137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83625-96A7-9A0D-1610-FB4CFD1F721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Picture Placeholder 2">
            <a:extLst>
              <a:ext uri="{FF2B5EF4-FFF2-40B4-BE49-F238E27FC236}">
                <a16:creationId xmlns:a16="http://schemas.microsoft.com/office/drawing/2014/main" id="{64AEAAD3-A71E-7C5D-4FA0-27BBB24E83C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6C9A90F9-FD7B-A292-9179-AA817C50B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0F316B1-60C2-4DF7-CCA7-00B490609570}"/>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6" name="Footer Placeholder 5">
            <a:extLst>
              <a:ext uri="{FF2B5EF4-FFF2-40B4-BE49-F238E27FC236}">
                <a16:creationId xmlns:a16="http://schemas.microsoft.com/office/drawing/2014/main" id="{1E3E8D0D-E5A1-27B9-A4FC-A0B2D4AD9E6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F1A2EDC-BF88-73C5-17F6-B75DC14BC97B}"/>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131325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46450-C21F-2094-42EE-BE3A368B2796}"/>
              </a:ext>
            </a:extLst>
          </p:cNvPr>
          <p:cNvSpPr>
            <a:spLocks noGrp="1"/>
          </p:cNvSpPr>
          <p:nvPr>
            <p:ph type="title"/>
          </p:nvPr>
        </p:nvSpPr>
        <p:spPr/>
        <p:txBody>
          <a:bodyPr/>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DEE5252F-E46C-C8AC-DA62-90F8BB8ECAA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1BFA65C1-DB23-25DE-1EEB-2A8D4707DE59}"/>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7169B0BD-29D5-3DBC-802B-AF10ADFB512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FA079DE-5CAE-EC93-7A9A-1AC70B557B94}"/>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2147126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ACA4E4-8E91-340F-D1AC-BFF6B9A7711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39A4BFBA-CD85-55F8-8528-9B9BF99EF08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9E30BE5E-7D78-AE76-5A97-A250A83385AB}"/>
              </a:ext>
            </a:extLst>
          </p:cNvPr>
          <p:cNvSpPr>
            <a:spLocks noGrp="1"/>
          </p:cNvSpPr>
          <p:nvPr>
            <p:ph type="dt" sz="half" idx="10"/>
          </p:nvPr>
        </p:nvSpPr>
        <p:spPr/>
        <p:txBody>
          <a:body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D20A9B35-E7D0-FFD7-92D9-E83FC734E56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24CFFF6-50EF-73F9-E30F-0BB87DBEBA6A}"/>
              </a:ext>
            </a:extLst>
          </p:cNvPr>
          <p:cNvSpPr>
            <a:spLocks noGrp="1"/>
          </p:cNvSpPr>
          <p:nvPr>
            <p:ph type="sldNum" sz="quarter" idx="12"/>
          </p:nvPr>
        </p:nvSpPr>
        <p:spPr/>
        <p:txBody>
          <a:bodyPr/>
          <a:lstStyle/>
          <a:p>
            <a:fld id="{4AB3EA4C-9DAC-4C12-A208-213F5E538473}" type="slidenum">
              <a:rPr lang="en-IE" smtClean="0"/>
              <a:t>‹#›</a:t>
            </a:fld>
            <a:endParaRPr lang="en-IE"/>
          </a:p>
        </p:txBody>
      </p:sp>
    </p:spTree>
    <p:extLst>
      <p:ext uri="{BB962C8B-B14F-4D97-AF65-F5344CB8AC3E}">
        <p14:creationId xmlns:p14="http://schemas.microsoft.com/office/powerpoint/2010/main" val="2043537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A51037-95A8-EC06-D432-EBD4713BB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E"/>
          </a:p>
        </p:txBody>
      </p:sp>
      <p:sp>
        <p:nvSpPr>
          <p:cNvPr id="3" name="Text Placeholder 2">
            <a:extLst>
              <a:ext uri="{FF2B5EF4-FFF2-40B4-BE49-F238E27FC236}">
                <a16:creationId xmlns:a16="http://schemas.microsoft.com/office/drawing/2014/main" id="{9384C4E6-8C40-680C-E0C8-3AA0E4F6C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57C3E2ED-D9C2-438E-EB0F-15C6B8ACA3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CE8E03-5189-478C-A572-5D4D13C880B9}" type="datetimeFigureOut">
              <a:rPr lang="en-IE" smtClean="0"/>
              <a:t>15/10/2026</a:t>
            </a:fld>
            <a:endParaRPr lang="en-IE"/>
          </a:p>
        </p:txBody>
      </p:sp>
      <p:sp>
        <p:nvSpPr>
          <p:cNvPr id="5" name="Footer Placeholder 4">
            <a:extLst>
              <a:ext uri="{FF2B5EF4-FFF2-40B4-BE49-F238E27FC236}">
                <a16:creationId xmlns:a16="http://schemas.microsoft.com/office/drawing/2014/main" id="{5991035F-72B4-C894-743D-A20B9753D5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697998B0-DC79-D574-B08F-D65DA0C0E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B3EA4C-9DAC-4C12-A208-213F5E538473}" type="slidenum">
              <a:rPr lang="en-IE" smtClean="0"/>
              <a:t>‹#›</a:t>
            </a:fld>
            <a:endParaRPr lang="en-IE"/>
          </a:p>
        </p:txBody>
      </p:sp>
    </p:spTree>
    <p:extLst>
      <p:ext uri="{BB962C8B-B14F-4D97-AF65-F5344CB8AC3E}">
        <p14:creationId xmlns:p14="http://schemas.microsoft.com/office/powerpoint/2010/main" val="905472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432F1C-666B-CE11-D734-47DC9AA2BC66}"/>
              </a:ext>
            </a:extLst>
          </p:cNvPr>
          <p:cNvSpPr txBox="1"/>
          <p:nvPr/>
        </p:nvSpPr>
        <p:spPr>
          <a:xfrm>
            <a:off x="383457" y="-1011652"/>
            <a:ext cx="7316753" cy="1477328"/>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LAYER 1: DATA SOURCES</a:t>
            </a:r>
          </a:p>
          <a:p>
            <a:r>
              <a:rPr lang="en-US" dirty="0"/>
              <a:t>	Primary: Mycelium DB (Academic API) [Target: around 20,000]</a:t>
            </a:r>
          </a:p>
          <a:p>
            <a:r>
              <a:rPr lang="en-US" dirty="0"/>
              <a:t>	Fallback/Secondary: CSO Ireland / INECC Mexico (Open Data)</a:t>
            </a:r>
          </a:p>
          <a:p>
            <a:endParaRPr lang="en-US" dirty="0"/>
          </a:p>
          <a:p>
            <a:endParaRPr lang="en-US" dirty="0"/>
          </a:p>
        </p:txBody>
      </p:sp>
      <p:sp>
        <p:nvSpPr>
          <p:cNvPr id="6" name="TextBox 5">
            <a:extLst>
              <a:ext uri="{FF2B5EF4-FFF2-40B4-BE49-F238E27FC236}">
                <a16:creationId xmlns:a16="http://schemas.microsoft.com/office/drawing/2014/main" id="{7E34E415-9D6C-B010-80D4-E992F53D7A2D}"/>
              </a:ext>
            </a:extLst>
          </p:cNvPr>
          <p:cNvSpPr txBox="1"/>
          <p:nvPr/>
        </p:nvSpPr>
        <p:spPr>
          <a:xfrm>
            <a:off x="383458" y="1014228"/>
            <a:ext cx="7316753"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LAYER 2: INGESTION AND DATA PIPELINE</a:t>
            </a:r>
          </a:p>
          <a:p>
            <a:r>
              <a:rPr lang="en-US" dirty="0"/>
              <a:t>	Data extraction and integration scripts</a:t>
            </a:r>
          </a:p>
          <a:p>
            <a:r>
              <a:rPr lang="en-US" dirty="0"/>
              <a:t>	Data cleaning, quality validation and harmonization</a:t>
            </a:r>
          </a:p>
        </p:txBody>
      </p:sp>
      <p:sp>
        <p:nvSpPr>
          <p:cNvPr id="8" name="TextBox 7">
            <a:extLst>
              <a:ext uri="{FF2B5EF4-FFF2-40B4-BE49-F238E27FC236}">
                <a16:creationId xmlns:a16="http://schemas.microsoft.com/office/drawing/2014/main" id="{83A1F9E2-7C2E-5E1C-019D-F3850B7B3828}"/>
              </a:ext>
            </a:extLst>
          </p:cNvPr>
          <p:cNvSpPr txBox="1"/>
          <p:nvPr/>
        </p:nvSpPr>
        <p:spPr>
          <a:xfrm>
            <a:off x="383458" y="2437141"/>
            <a:ext cx="7316753"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LAYER 3: STORAGE AND EXPLORATORY ANALYSIS</a:t>
            </a:r>
          </a:p>
          <a:p>
            <a:r>
              <a:rPr lang="en-US" dirty="0"/>
              <a:t>	Consolidated GHG Dataset (CSV)</a:t>
            </a:r>
          </a:p>
          <a:p>
            <a:r>
              <a:rPr lang="en-US" dirty="0"/>
              <a:t>	Exploratory Data Analysis (EDA module)</a:t>
            </a:r>
          </a:p>
        </p:txBody>
      </p:sp>
      <p:sp>
        <p:nvSpPr>
          <p:cNvPr id="10" name="TextBox 9">
            <a:extLst>
              <a:ext uri="{FF2B5EF4-FFF2-40B4-BE49-F238E27FC236}">
                <a16:creationId xmlns:a16="http://schemas.microsoft.com/office/drawing/2014/main" id="{03585EFD-F623-DBF5-A1AF-F6149AFE3E60}"/>
              </a:ext>
            </a:extLst>
          </p:cNvPr>
          <p:cNvSpPr txBox="1"/>
          <p:nvPr/>
        </p:nvSpPr>
        <p:spPr>
          <a:xfrm>
            <a:off x="383457" y="4045206"/>
            <a:ext cx="7316753" cy="120032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LAYER 4: MODELING AND EVALUATION ENVIRONMENT</a:t>
            </a:r>
          </a:p>
          <a:p>
            <a:r>
              <a:rPr lang="en-US" dirty="0"/>
              <a:t>	Platform: Jupyter Notebook Environment</a:t>
            </a:r>
          </a:p>
          <a:p>
            <a:r>
              <a:rPr lang="en-US" dirty="0"/>
              <a:t>	Predictive Engine:  Linear regression models</a:t>
            </a:r>
          </a:p>
          <a:p>
            <a:r>
              <a:rPr lang="en-US" dirty="0"/>
              <a:t>	Model evaluation and validation: (</a:t>
            </a:r>
            <a:r>
              <a:rPr lang="en-IE" dirty="0"/>
              <a:t>MSE and R-squared (R²)) </a:t>
            </a:r>
          </a:p>
        </p:txBody>
      </p:sp>
      <p:sp>
        <p:nvSpPr>
          <p:cNvPr id="12" name="TextBox 11">
            <a:extLst>
              <a:ext uri="{FF2B5EF4-FFF2-40B4-BE49-F238E27FC236}">
                <a16:creationId xmlns:a16="http://schemas.microsoft.com/office/drawing/2014/main" id="{988B3679-C162-A986-7A0E-0F65D093D3F2}"/>
              </a:ext>
            </a:extLst>
          </p:cNvPr>
          <p:cNvSpPr txBox="1"/>
          <p:nvPr/>
        </p:nvSpPr>
        <p:spPr>
          <a:xfrm>
            <a:off x="383458" y="5952288"/>
            <a:ext cx="7316752"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LAYER 5: OUTPUT AND PRESENTATION LAYER</a:t>
            </a:r>
          </a:p>
          <a:p>
            <a:r>
              <a:rPr lang="en-US" dirty="0"/>
              <a:t>	Future GHG emissions predictions </a:t>
            </a:r>
          </a:p>
          <a:p>
            <a:r>
              <a:rPr lang="en-US" dirty="0"/>
              <a:t>	Visualizations and performance metrics reports</a:t>
            </a:r>
            <a:endParaRPr lang="en-IE" dirty="0"/>
          </a:p>
        </p:txBody>
      </p:sp>
      <p:pic>
        <p:nvPicPr>
          <p:cNvPr id="16" name="Picture 15">
            <a:extLst>
              <a:ext uri="{FF2B5EF4-FFF2-40B4-BE49-F238E27FC236}">
                <a16:creationId xmlns:a16="http://schemas.microsoft.com/office/drawing/2014/main" id="{5E822700-D4C8-AA46-E13B-EEBA4664CF83}"/>
              </a:ext>
            </a:extLst>
          </p:cNvPr>
          <p:cNvPicPr>
            <a:picLocks noChangeAspect="1"/>
          </p:cNvPicPr>
          <p:nvPr/>
        </p:nvPicPr>
        <p:blipFill>
          <a:blip r:embed="rId2"/>
          <a:stretch>
            <a:fillRect/>
          </a:stretch>
        </p:blipFill>
        <p:spPr>
          <a:xfrm>
            <a:off x="1307980" y="-66632"/>
            <a:ext cx="1207766" cy="361684"/>
          </a:xfrm>
          <a:prstGeom prst="rect">
            <a:avLst/>
          </a:prstGeom>
        </p:spPr>
      </p:pic>
      <p:pic>
        <p:nvPicPr>
          <p:cNvPr id="18" name="Picture 17">
            <a:extLst>
              <a:ext uri="{FF2B5EF4-FFF2-40B4-BE49-F238E27FC236}">
                <a16:creationId xmlns:a16="http://schemas.microsoft.com/office/drawing/2014/main" id="{845F6B39-1031-36E0-805C-7EEF327E5D35}"/>
              </a:ext>
            </a:extLst>
          </p:cNvPr>
          <p:cNvPicPr>
            <a:picLocks noChangeAspect="1"/>
          </p:cNvPicPr>
          <p:nvPr/>
        </p:nvPicPr>
        <p:blipFill>
          <a:blip r:embed="rId3"/>
          <a:stretch>
            <a:fillRect/>
          </a:stretch>
        </p:blipFill>
        <p:spPr>
          <a:xfrm>
            <a:off x="2695754" y="-40774"/>
            <a:ext cx="1490040" cy="361685"/>
          </a:xfrm>
          <a:prstGeom prst="rect">
            <a:avLst/>
          </a:prstGeom>
        </p:spPr>
      </p:pic>
      <p:pic>
        <p:nvPicPr>
          <p:cNvPr id="20" name="Picture 19">
            <a:extLst>
              <a:ext uri="{FF2B5EF4-FFF2-40B4-BE49-F238E27FC236}">
                <a16:creationId xmlns:a16="http://schemas.microsoft.com/office/drawing/2014/main" id="{0739F751-F595-7F72-9C44-26E7E03EB9C3}"/>
              </a:ext>
            </a:extLst>
          </p:cNvPr>
          <p:cNvPicPr>
            <a:picLocks noChangeAspect="1"/>
          </p:cNvPicPr>
          <p:nvPr/>
        </p:nvPicPr>
        <p:blipFill>
          <a:blip r:embed="rId4"/>
          <a:stretch>
            <a:fillRect/>
          </a:stretch>
        </p:blipFill>
        <p:spPr>
          <a:xfrm>
            <a:off x="4390341" y="-116656"/>
            <a:ext cx="1226880" cy="512323"/>
          </a:xfrm>
          <a:prstGeom prst="rect">
            <a:avLst/>
          </a:prstGeom>
        </p:spPr>
      </p:pic>
      <p:cxnSp>
        <p:nvCxnSpPr>
          <p:cNvPr id="22" name="Straight Arrow Connector 21">
            <a:extLst>
              <a:ext uri="{FF2B5EF4-FFF2-40B4-BE49-F238E27FC236}">
                <a16:creationId xmlns:a16="http://schemas.microsoft.com/office/drawing/2014/main" id="{79F91142-89BC-A548-968C-062E16D50129}"/>
              </a:ext>
            </a:extLst>
          </p:cNvPr>
          <p:cNvCxnSpPr>
            <a:cxnSpLocks/>
          </p:cNvCxnSpPr>
          <p:nvPr/>
        </p:nvCxnSpPr>
        <p:spPr>
          <a:xfrm>
            <a:off x="5790533" y="465676"/>
            <a:ext cx="0" cy="548552"/>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E124FEDF-05BC-8E84-4D26-DD8A833264A0}"/>
              </a:ext>
            </a:extLst>
          </p:cNvPr>
          <p:cNvSpPr txBox="1"/>
          <p:nvPr/>
        </p:nvSpPr>
        <p:spPr>
          <a:xfrm>
            <a:off x="5790533" y="533412"/>
            <a:ext cx="3340098" cy="338554"/>
          </a:xfrm>
          <a:prstGeom prst="rect">
            <a:avLst/>
          </a:prstGeom>
          <a:noFill/>
        </p:spPr>
        <p:txBody>
          <a:bodyPr wrap="square" rtlCol="0">
            <a:spAutoFit/>
          </a:bodyPr>
          <a:lstStyle/>
          <a:p>
            <a:r>
              <a:rPr lang="en-US" sz="1600" dirty="0"/>
              <a:t>(HTTP/REST API/Data ingestion)</a:t>
            </a:r>
            <a:endParaRPr lang="en-IE" sz="1600" dirty="0"/>
          </a:p>
        </p:txBody>
      </p:sp>
      <p:cxnSp>
        <p:nvCxnSpPr>
          <p:cNvPr id="28" name="Straight Arrow Connector 27">
            <a:extLst>
              <a:ext uri="{FF2B5EF4-FFF2-40B4-BE49-F238E27FC236}">
                <a16:creationId xmlns:a16="http://schemas.microsoft.com/office/drawing/2014/main" id="{95781CBC-E10C-4365-08B7-2C4C1891C92D}"/>
              </a:ext>
            </a:extLst>
          </p:cNvPr>
          <p:cNvCxnSpPr>
            <a:cxnSpLocks/>
          </p:cNvCxnSpPr>
          <p:nvPr/>
        </p:nvCxnSpPr>
        <p:spPr>
          <a:xfrm>
            <a:off x="5790533" y="1937558"/>
            <a:ext cx="0" cy="499583"/>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28FBFA67-0431-FF9D-028D-75AE738DC8E8}"/>
              </a:ext>
            </a:extLst>
          </p:cNvPr>
          <p:cNvSpPr txBox="1"/>
          <p:nvPr/>
        </p:nvSpPr>
        <p:spPr>
          <a:xfrm>
            <a:off x="5790533" y="2051106"/>
            <a:ext cx="3725775" cy="338554"/>
          </a:xfrm>
          <a:prstGeom prst="rect">
            <a:avLst/>
          </a:prstGeom>
          <a:noFill/>
        </p:spPr>
        <p:txBody>
          <a:bodyPr wrap="square" rtlCol="0">
            <a:spAutoFit/>
          </a:bodyPr>
          <a:lstStyle/>
          <a:p>
            <a:r>
              <a:rPr lang="en-US" sz="1600" dirty="0"/>
              <a:t>(Cleaned and structured </a:t>
            </a:r>
            <a:r>
              <a:rPr lang="en-US" sz="1600" dirty="0" err="1"/>
              <a:t>DataFrames</a:t>
            </a:r>
            <a:r>
              <a:rPr lang="en-US" sz="1600" dirty="0"/>
              <a:t>)</a:t>
            </a:r>
            <a:endParaRPr lang="en-IE" sz="1600" dirty="0"/>
          </a:p>
        </p:txBody>
      </p:sp>
      <p:cxnSp>
        <p:nvCxnSpPr>
          <p:cNvPr id="31" name="Straight Arrow Connector 30">
            <a:extLst>
              <a:ext uri="{FF2B5EF4-FFF2-40B4-BE49-F238E27FC236}">
                <a16:creationId xmlns:a16="http://schemas.microsoft.com/office/drawing/2014/main" id="{8AE3513D-3D11-DC51-4768-3B5D3FDBDCE3}"/>
              </a:ext>
            </a:extLst>
          </p:cNvPr>
          <p:cNvCxnSpPr>
            <a:cxnSpLocks/>
          </p:cNvCxnSpPr>
          <p:nvPr/>
        </p:nvCxnSpPr>
        <p:spPr>
          <a:xfrm>
            <a:off x="5790533" y="3360471"/>
            <a:ext cx="0" cy="684735"/>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678BCD90-81FA-D7D8-E9D1-B31CCF9CED24}"/>
              </a:ext>
            </a:extLst>
          </p:cNvPr>
          <p:cNvCxnSpPr>
            <a:cxnSpLocks/>
          </p:cNvCxnSpPr>
          <p:nvPr/>
        </p:nvCxnSpPr>
        <p:spPr>
          <a:xfrm>
            <a:off x="5790533" y="5245535"/>
            <a:ext cx="0" cy="735738"/>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 name="TextBox 33">
            <a:extLst>
              <a:ext uri="{FF2B5EF4-FFF2-40B4-BE49-F238E27FC236}">
                <a16:creationId xmlns:a16="http://schemas.microsoft.com/office/drawing/2014/main" id="{56B17F63-5024-2E50-903E-A0C302210E6A}"/>
              </a:ext>
            </a:extLst>
          </p:cNvPr>
          <p:cNvSpPr txBox="1"/>
          <p:nvPr/>
        </p:nvSpPr>
        <p:spPr>
          <a:xfrm>
            <a:off x="5862721" y="3529591"/>
            <a:ext cx="3725775" cy="338554"/>
          </a:xfrm>
          <a:prstGeom prst="rect">
            <a:avLst/>
          </a:prstGeom>
          <a:noFill/>
        </p:spPr>
        <p:txBody>
          <a:bodyPr wrap="square" rtlCol="0">
            <a:spAutoFit/>
          </a:bodyPr>
          <a:lstStyle/>
          <a:p>
            <a:r>
              <a:rPr lang="en-US" sz="1600" dirty="0"/>
              <a:t>(Feature matrix and target variables)</a:t>
            </a:r>
            <a:endParaRPr lang="en-IE" sz="1600" dirty="0"/>
          </a:p>
        </p:txBody>
      </p:sp>
      <p:sp>
        <p:nvSpPr>
          <p:cNvPr id="36" name="TextBox 35">
            <a:extLst>
              <a:ext uri="{FF2B5EF4-FFF2-40B4-BE49-F238E27FC236}">
                <a16:creationId xmlns:a16="http://schemas.microsoft.com/office/drawing/2014/main" id="{14DE70F5-01D8-4FD7-4294-6725D74B2966}"/>
              </a:ext>
            </a:extLst>
          </p:cNvPr>
          <p:cNvSpPr txBox="1"/>
          <p:nvPr/>
        </p:nvSpPr>
        <p:spPr>
          <a:xfrm>
            <a:off x="5862721" y="5422892"/>
            <a:ext cx="3725775" cy="338554"/>
          </a:xfrm>
          <a:prstGeom prst="rect">
            <a:avLst/>
          </a:prstGeom>
          <a:noFill/>
        </p:spPr>
        <p:txBody>
          <a:bodyPr wrap="square" rtlCol="0">
            <a:spAutoFit/>
          </a:bodyPr>
          <a:lstStyle/>
          <a:p>
            <a:r>
              <a:rPr lang="en-US" sz="1600" dirty="0"/>
              <a:t>(Forecasts and evaluation results)</a:t>
            </a:r>
            <a:endParaRPr lang="en-IE" sz="1600" dirty="0"/>
          </a:p>
        </p:txBody>
      </p:sp>
      <p:pic>
        <p:nvPicPr>
          <p:cNvPr id="37" name="Picture 36" descr="File:Python-logo-notext.svg - Wikipedia">
            <a:extLst>
              <a:ext uri="{FF2B5EF4-FFF2-40B4-BE49-F238E27FC236}">
                <a16:creationId xmlns:a16="http://schemas.microsoft.com/office/drawing/2014/main" id="{2C76C51E-4681-3EA1-B9D5-36E458775578}"/>
              </a:ext>
            </a:extLst>
          </p:cNvPr>
          <p:cNvPicPr>
            <a:picLocks noChangeAspect="1"/>
          </p:cNvPicPr>
          <p:nvPr/>
        </p:nvPicPr>
        <p:blipFill>
          <a:blip r:embed="rId5"/>
          <a:stretch>
            <a:fillRect/>
          </a:stretch>
        </p:blipFill>
        <p:spPr>
          <a:xfrm>
            <a:off x="6739112" y="1200817"/>
            <a:ext cx="529571" cy="529571"/>
          </a:xfrm>
          <a:prstGeom prst="rect">
            <a:avLst/>
          </a:prstGeom>
        </p:spPr>
      </p:pic>
      <p:pic>
        <p:nvPicPr>
          <p:cNvPr id="38" name="Picture 37" descr="How To Add Data In Csv File Using Python - Dibujos Cute Para Imprimir">
            <a:extLst>
              <a:ext uri="{FF2B5EF4-FFF2-40B4-BE49-F238E27FC236}">
                <a16:creationId xmlns:a16="http://schemas.microsoft.com/office/drawing/2014/main" id="{5E3D6FD3-3650-16D3-F12B-7488EFA38C9A}"/>
              </a:ext>
            </a:extLst>
          </p:cNvPr>
          <p:cNvPicPr>
            <a:picLocks noChangeAspect="1"/>
          </p:cNvPicPr>
          <p:nvPr/>
        </p:nvPicPr>
        <p:blipFill>
          <a:blip r:embed="rId6"/>
          <a:srcRect l="9707" t="8991" r="15693" b="9428"/>
          <a:stretch>
            <a:fillRect/>
          </a:stretch>
        </p:blipFill>
        <p:spPr>
          <a:xfrm>
            <a:off x="6760471" y="2644311"/>
            <a:ext cx="517845" cy="566290"/>
          </a:xfrm>
          <a:prstGeom prst="rect">
            <a:avLst/>
          </a:prstGeom>
        </p:spPr>
      </p:pic>
      <p:pic>
        <p:nvPicPr>
          <p:cNvPr id="39" name="Picture 38" descr="Dashboard Layout Icon at Henry Storms blog">
            <a:extLst>
              <a:ext uri="{FF2B5EF4-FFF2-40B4-BE49-F238E27FC236}">
                <a16:creationId xmlns:a16="http://schemas.microsoft.com/office/drawing/2014/main" id="{AA48B463-2739-6EBD-4745-B035382A4D28}"/>
              </a:ext>
            </a:extLst>
          </p:cNvPr>
          <p:cNvPicPr>
            <a:picLocks noChangeAspect="1"/>
          </p:cNvPicPr>
          <p:nvPr/>
        </p:nvPicPr>
        <p:blipFill>
          <a:blip r:embed="rId7"/>
          <a:stretch>
            <a:fillRect/>
          </a:stretch>
        </p:blipFill>
        <p:spPr>
          <a:xfrm>
            <a:off x="6718412" y="6167218"/>
            <a:ext cx="601961" cy="601961"/>
          </a:xfrm>
          <a:prstGeom prst="rect">
            <a:avLst/>
          </a:prstGeom>
        </p:spPr>
      </p:pic>
      <p:pic>
        <p:nvPicPr>
          <p:cNvPr id="40" name="Picture 39" descr="Unlocking Remote Access to Jupyter Notebook: Troubleshooting Guide">
            <a:extLst>
              <a:ext uri="{FF2B5EF4-FFF2-40B4-BE49-F238E27FC236}">
                <a16:creationId xmlns:a16="http://schemas.microsoft.com/office/drawing/2014/main" id="{C5D786B1-EF01-3C56-A7DB-565476F3A180}"/>
              </a:ext>
            </a:extLst>
          </p:cNvPr>
          <p:cNvPicPr>
            <a:picLocks noChangeAspect="1"/>
          </p:cNvPicPr>
          <p:nvPr/>
        </p:nvPicPr>
        <p:blipFill>
          <a:blip r:embed="rId8"/>
          <a:srcRect l="9237" t="10799" r="6884" b="12034"/>
          <a:stretch>
            <a:fillRect/>
          </a:stretch>
        </p:blipFill>
        <p:spPr>
          <a:xfrm>
            <a:off x="6643295" y="4140002"/>
            <a:ext cx="752198" cy="692007"/>
          </a:xfrm>
          <a:prstGeom prst="rect">
            <a:avLst/>
          </a:prstGeom>
        </p:spPr>
      </p:pic>
      <p:sp>
        <p:nvSpPr>
          <p:cNvPr id="2" name="TextBox 1">
            <a:extLst>
              <a:ext uri="{FF2B5EF4-FFF2-40B4-BE49-F238E27FC236}">
                <a16:creationId xmlns:a16="http://schemas.microsoft.com/office/drawing/2014/main" id="{00703987-5054-4096-17BC-42C8BB3D2F11}"/>
              </a:ext>
            </a:extLst>
          </p:cNvPr>
          <p:cNvSpPr txBox="1"/>
          <p:nvPr/>
        </p:nvSpPr>
        <p:spPr>
          <a:xfrm>
            <a:off x="7773953" y="-965486"/>
            <a:ext cx="4413231" cy="1384995"/>
          </a:xfrm>
          <a:prstGeom prst="rect">
            <a:avLst/>
          </a:prstGeom>
          <a:noFill/>
        </p:spPr>
        <p:txBody>
          <a:bodyPr wrap="square" rtlCol="0">
            <a:spAutoFit/>
          </a:bodyPr>
          <a:lstStyle/>
          <a:p>
            <a:pPr algn="just"/>
            <a:r>
              <a:rPr lang="en-US" sz="1400" dirty="0"/>
              <a:t>Layer 1: This layer represents the source of GHG emissions data for manufacturing companies. The primary source is the Mycelium DB database to obtain an initial target of around 20,000 observations. As second option we have Ireland’s Central Statistics Office (CSO) and INECC.</a:t>
            </a:r>
            <a:endParaRPr lang="en-IE" sz="1400" dirty="0"/>
          </a:p>
        </p:txBody>
      </p:sp>
      <p:sp>
        <p:nvSpPr>
          <p:cNvPr id="5" name="TextBox 4">
            <a:extLst>
              <a:ext uri="{FF2B5EF4-FFF2-40B4-BE49-F238E27FC236}">
                <a16:creationId xmlns:a16="http://schemas.microsoft.com/office/drawing/2014/main" id="{F8BD9E57-CA47-2E50-8CC4-B2A5D0E69949}"/>
              </a:ext>
            </a:extLst>
          </p:cNvPr>
          <p:cNvSpPr txBox="1"/>
          <p:nvPr/>
        </p:nvSpPr>
        <p:spPr>
          <a:xfrm>
            <a:off x="7732957" y="921557"/>
            <a:ext cx="4413231" cy="954107"/>
          </a:xfrm>
          <a:prstGeom prst="rect">
            <a:avLst/>
          </a:prstGeom>
          <a:noFill/>
        </p:spPr>
        <p:txBody>
          <a:bodyPr wrap="square" rtlCol="0">
            <a:spAutoFit/>
          </a:bodyPr>
          <a:lstStyle/>
          <a:p>
            <a:pPr algn="just"/>
            <a:r>
              <a:rPr lang="en-US" sz="1400" dirty="0"/>
              <a:t>Layer 2: This layer involves the automated extraction and integration of data from API or web files using Python language (using libraries such as pandas). During this stage, data cleaning processes are applied.</a:t>
            </a:r>
            <a:endParaRPr lang="en-IE" sz="1400" dirty="0"/>
          </a:p>
        </p:txBody>
      </p:sp>
      <p:sp>
        <p:nvSpPr>
          <p:cNvPr id="11" name="TextBox 10">
            <a:extLst>
              <a:ext uri="{FF2B5EF4-FFF2-40B4-BE49-F238E27FC236}">
                <a16:creationId xmlns:a16="http://schemas.microsoft.com/office/drawing/2014/main" id="{A3297A92-C7C8-37A2-C2D3-94720F6A5BAE}"/>
              </a:ext>
            </a:extLst>
          </p:cNvPr>
          <p:cNvSpPr txBox="1"/>
          <p:nvPr/>
        </p:nvSpPr>
        <p:spPr>
          <a:xfrm>
            <a:off x="7754316" y="2444413"/>
            <a:ext cx="4413231" cy="954107"/>
          </a:xfrm>
          <a:prstGeom prst="rect">
            <a:avLst/>
          </a:prstGeom>
          <a:noFill/>
        </p:spPr>
        <p:txBody>
          <a:bodyPr wrap="square" rtlCol="0">
            <a:spAutoFit/>
          </a:bodyPr>
          <a:lstStyle/>
          <a:p>
            <a:pPr algn="just"/>
            <a:r>
              <a:rPr lang="en-US" sz="1400" dirty="0"/>
              <a:t>Layer 3: Here, the cleaned </a:t>
            </a:r>
            <a:r>
              <a:rPr lang="en-US" sz="1400" dirty="0" err="1"/>
              <a:t>DataFrames</a:t>
            </a:r>
            <a:r>
              <a:rPr lang="en-US" sz="1400" dirty="0"/>
              <a:t> are stored in a structured format (such as CSV files). EDA is then performed on this unified dataset to identify historical trends, distributions and key correlations.</a:t>
            </a:r>
            <a:endParaRPr lang="en-IE" sz="1400" dirty="0"/>
          </a:p>
        </p:txBody>
      </p:sp>
      <p:sp>
        <p:nvSpPr>
          <p:cNvPr id="14" name="TextBox 13">
            <a:extLst>
              <a:ext uri="{FF2B5EF4-FFF2-40B4-BE49-F238E27FC236}">
                <a16:creationId xmlns:a16="http://schemas.microsoft.com/office/drawing/2014/main" id="{ACCA9EDE-0EDE-8249-1EA9-51D29D3728F6}"/>
              </a:ext>
            </a:extLst>
          </p:cNvPr>
          <p:cNvSpPr txBox="1"/>
          <p:nvPr/>
        </p:nvSpPr>
        <p:spPr>
          <a:xfrm>
            <a:off x="7725608" y="4155011"/>
            <a:ext cx="4413231" cy="954107"/>
          </a:xfrm>
          <a:prstGeom prst="rect">
            <a:avLst/>
          </a:prstGeom>
          <a:noFill/>
        </p:spPr>
        <p:txBody>
          <a:bodyPr wrap="square" rtlCol="0">
            <a:spAutoFit/>
          </a:bodyPr>
          <a:lstStyle/>
          <a:p>
            <a:pPr algn="just"/>
            <a:r>
              <a:rPr lang="en-US" sz="1400" dirty="0"/>
              <a:t>Layer 4: Represents the development of models using Jupyter Notebook as platform. A Linear regression model is trained to estimate future GHG emissions. The evaluation is using  MSE and </a:t>
            </a:r>
            <a:r>
              <a:rPr lang="en-IE" sz="1400" dirty="0"/>
              <a:t>R²</a:t>
            </a:r>
            <a:r>
              <a:rPr lang="en-US" sz="1400" dirty="0"/>
              <a:t>.</a:t>
            </a:r>
            <a:endParaRPr lang="en-IE" sz="1400" dirty="0"/>
          </a:p>
        </p:txBody>
      </p:sp>
      <p:sp>
        <p:nvSpPr>
          <p:cNvPr id="17" name="TextBox 16">
            <a:extLst>
              <a:ext uri="{FF2B5EF4-FFF2-40B4-BE49-F238E27FC236}">
                <a16:creationId xmlns:a16="http://schemas.microsoft.com/office/drawing/2014/main" id="{863FAE7C-FA5D-350F-5327-1DCD9FFC08AE}"/>
              </a:ext>
            </a:extLst>
          </p:cNvPr>
          <p:cNvSpPr txBox="1"/>
          <p:nvPr/>
        </p:nvSpPr>
        <p:spPr>
          <a:xfrm>
            <a:off x="7778769" y="6040403"/>
            <a:ext cx="4413231" cy="523220"/>
          </a:xfrm>
          <a:prstGeom prst="rect">
            <a:avLst/>
          </a:prstGeom>
          <a:noFill/>
        </p:spPr>
        <p:txBody>
          <a:bodyPr wrap="square" rtlCol="0">
            <a:spAutoFit/>
          </a:bodyPr>
          <a:lstStyle/>
          <a:p>
            <a:pPr algn="just"/>
            <a:r>
              <a:rPr lang="en-US" sz="1400" dirty="0"/>
              <a:t>Layer 5: Final delivery of the system via graphical visualizations.</a:t>
            </a:r>
            <a:endParaRPr lang="en-IE" sz="1400" dirty="0"/>
          </a:p>
        </p:txBody>
      </p:sp>
    </p:spTree>
    <p:extLst>
      <p:ext uri="{BB962C8B-B14F-4D97-AF65-F5344CB8AC3E}">
        <p14:creationId xmlns:p14="http://schemas.microsoft.com/office/powerpoint/2010/main" val="2003467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327</Words>
  <Application>Microsoft Office PowerPoint</Application>
  <PresentationFormat>Widescreen</PresentationFormat>
  <Paragraphs>25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D</dc:creator>
  <cp:lastModifiedBy>Andrea D</cp:lastModifiedBy>
  <cp:revision>5</cp:revision>
  <dcterms:created xsi:type="dcterms:W3CDTF">2026-10-15T14:06:52Z</dcterms:created>
  <dcterms:modified xsi:type="dcterms:W3CDTF">2026-10-15T15:17:44Z</dcterms:modified>
</cp:coreProperties>
</file>